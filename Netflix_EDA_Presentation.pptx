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D2B-4C21-8BBB-8750A9E9CA4A}"/>
              </c:ext>
            </c:extLst>
          </c:dPt>
          <c:dPt>
            <c:idx val="1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2B-4C21-8BBB-8750A9E9CA4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D2B-4C21-8BBB-8750A9E9CA4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2B-4C21-8BBB-8750A9E9CA4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2B-4C21-8BBB-8750A9E9CA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B3B3B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C1C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B9-420E-B1F5-7F4234F0CB0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FB9-420E-B1F5-7F4234F0CB0B}"/>
              </c:ext>
            </c:extLst>
          </c:dPt>
          <c:dPt>
            <c:idx val="2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B9-420E-B1F5-7F4234F0CB0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FB9-420E-B1F5-7F4234F0CB0B}"/>
              </c:ext>
            </c:extLst>
          </c:dPt>
          <c:dPt>
            <c:idx val="4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B9-420E-B1F5-7F4234F0CB0B}"/>
              </c:ext>
            </c:extLst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FB9-420E-B1F5-7F4234F0CB0B}"/>
              </c:ext>
            </c:extLst>
          </c:dPt>
          <c:dPt>
            <c:idx val="6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FB9-420E-B1F5-7F4234F0CB0B}"/>
              </c:ext>
            </c:extLst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FB9-420E-B1F5-7F4234F0CB0B}"/>
              </c:ext>
            </c:extLst>
          </c:dPt>
          <c:dPt>
            <c:idx val="8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FB9-420E-B1F5-7F4234F0CB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B3B3B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TV-MA</c:v>
                </c:pt>
                <c:pt idx="1">
                  <c:v>TV-14</c:v>
                </c:pt>
                <c:pt idx="2">
                  <c:v>TV-PG</c:v>
                </c:pt>
                <c:pt idx="3">
                  <c:v>R</c:v>
                </c:pt>
                <c:pt idx="4">
                  <c:v>PG-13</c:v>
                </c:pt>
                <c:pt idx="5">
                  <c:v>TV-Y7</c:v>
                </c:pt>
                <c:pt idx="6">
                  <c:v>TV-Y</c:v>
                </c:pt>
                <c:pt idx="7">
                  <c:v>PG</c:v>
                </c:pt>
                <c:pt idx="8">
                  <c:v>TV-G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3207</c:v>
                </c:pt>
                <c:pt idx="1">
                  <c:v>2160</c:v>
                </c:pt>
                <c:pt idx="2">
                  <c:v>863</c:v>
                </c:pt>
                <c:pt idx="3">
                  <c:v>799</c:v>
                </c:pt>
                <c:pt idx="4">
                  <c:v>490</c:v>
                </c:pt>
                <c:pt idx="5">
                  <c:v>334</c:v>
                </c:pt>
                <c:pt idx="6">
                  <c:v>307</c:v>
                </c:pt>
                <c:pt idx="7">
                  <c:v>287</c:v>
                </c:pt>
                <c:pt idx="8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FB9-420E-B1F5-7F4234F0CB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1C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12</c:v>
                </c:pt>
                <c:pt idx="4">
                  <c:v>28</c:v>
                </c:pt>
                <c:pt idx="5">
                  <c:v>50</c:v>
                </c:pt>
                <c:pt idx="6">
                  <c:v>106</c:v>
                </c:pt>
                <c:pt idx="7">
                  <c:v>195</c:v>
                </c:pt>
                <c:pt idx="8">
                  <c:v>449</c:v>
                </c:pt>
                <c:pt idx="9">
                  <c:v>768</c:v>
                </c:pt>
                <c:pt idx="10">
                  <c:v>1073</c:v>
                </c:pt>
                <c:pt idx="11">
                  <c:v>1243</c:v>
                </c:pt>
                <c:pt idx="12">
                  <c:v>1010</c:v>
                </c:pt>
                <c:pt idx="13">
                  <c:v>619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90E-4F6E-AA3F-EC55BACB04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ln w="38100" cap="flat">
              <a:solidFill>
                <a:srgbClr val="4A90E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0E2"/>
              </a:solidFill>
              <a:ln w="9525" cap="flat">
                <a:solidFill>
                  <a:srgbClr val="4A90E2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6</c:v>
                </c:pt>
                <c:pt idx="4">
                  <c:v>11</c:v>
                </c:pt>
                <c:pt idx="5">
                  <c:v>20</c:v>
                </c:pt>
                <c:pt idx="6">
                  <c:v>53</c:v>
                </c:pt>
                <c:pt idx="7">
                  <c:v>82</c:v>
                </c:pt>
                <c:pt idx="8">
                  <c:v>183</c:v>
                </c:pt>
                <c:pt idx="9">
                  <c:v>273</c:v>
                </c:pt>
                <c:pt idx="10">
                  <c:v>357</c:v>
                </c:pt>
                <c:pt idx="11">
                  <c:v>414</c:v>
                </c:pt>
                <c:pt idx="12">
                  <c:v>356</c:v>
                </c:pt>
                <c:pt idx="13">
                  <c:v>354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90E-4F6E-AA3F-EC55BACB0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B3B3B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C1C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5A-4FD3-A4DE-DB57AFD1A00F}"/>
              </c:ext>
            </c:extLst>
          </c:dPt>
          <c:dPt>
            <c:idx val="1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5A-4FD3-A4DE-DB57AFD1A00F}"/>
              </c:ext>
            </c:extLst>
          </c:dPt>
          <c:dPt>
            <c:idx val="2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5A-4FD3-A4DE-DB57AFD1A00F}"/>
              </c:ext>
            </c:extLst>
          </c:dPt>
          <c:dPt>
            <c:idx val="3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D5A-4FD3-A4DE-DB57AFD1A00F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D5A-4FD3-A4DE-DB57AFD1A00F}"/>
              </c:ext>
            </c:extLst>
          </c:dPt>
          <c:dPt>
            <c:idx val="5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D5A-4FD3-A4DE-DB57AFD1A00F}"/>
              </c:ext>
            </c:extLst>
          </c:dPt>
          <c:dPt>
            <c:idx val="6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D5A-4FD3-A4DE-DB57AFD1A00F}"/>
              </c:ext>
            </c:extLst>
          </c:dPt>
          <c:dPt>
            <c:idx val="7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D5A-4FD3-A4DE-DB57AFD1A00F}"/>
              </c:ext>
            </c:extLst>
          </c:dPt>
          <c:dPt>
            <c:idx val="8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D5A-4FD3-A4DE-DB57AFD1A00F}"/>
              </c:ext>
            </c:extLst>
          </c:dPt>
          <c:dPt>
            <c:idx val="9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D5A-4FD3-A4DE-DB57AFD1A00F}"/>
              </c:ext>
            </c:extLst>
          </c:dPt>
          <c:dPt>
            <c:idx val="10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D5A-4FD3-A4DE-DB57AFD1A00F}"/>
              </c:ext>
            </c:extLst>
          </c:dPt>
          <c:dPt>
            <c:idx val="11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D5A-4FD3-A4DE-DB57AFD1A0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B3B3B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USA</c:v>
                </c:pt>
                <c:pt idx="1">
                  <c:v>India</c:v>
                </c:pt>
                <c:pt idx="2">
                  <c:v>UK</c:v>
                </c:pt>
                <c:pt idx="3">
                  <c:v>Japan</c:v>
                </c:pt>
                <c:pt idx="4">
                  <c:v>S. Korea</c:v>
                </c:pt>
                <c:pt idx="5">
                  <c:v>Canada</c:v>
                </c:pt>
                <c:pt idx="6">
                  <c:v>Spain</c:v>
                </c:pt>
                <c:pt idx="7">
                  <c:v>France</c:v>
                </c:pt>
                <c:pt idx="8">
                  <c:v>Mexico</c:v>
                </c:pt>
                <c:pt idx="9">
                  <c:v>Egypt</c:v>
                </c:pt>
                <c:pt idx="10">
                  <c:v>Australia</c:v>
                </c:pt>
                <c:pt idx="11">
                  <c:v>Turkey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2818</c:v>
                </c:pt>
                <c:pt idx="1">
                  <c:v>972</c:v>
                </c:pt>
                <c:pt idx="2">
                  <c:v>419</c:v>
                </c:pt>
                <c:pt idx="3">
                  <c:v>245</c:v>
                </c:pt>
                <c:pt idx="4">
                  <c:v>199</c:v>
                </c:pt>
                <c:pt idx="5">
                  <c:v>181</c:v>
                </c:pt>
                <c:pt idx="6">
                  <c:v>145</c:v>
                </c:pt>
                <c:pt idx="7">
                  <c:v>124</c:v>
                </c:pt>
                <c:pt idx="8">
                  <c:v>110</c:v>
                </c:pt>
                <c:pt idx="9">
                  <c:v>106</c:v>
                </c:pt>
                <c:pt idx="10">
                  <c:v>97</c:v>
                </c:pt>
                <c:pt idx="1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1D5A-4FD3-A4DE-DB57AFD1A0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1C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31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73152" cy="5143500"/>
          </a:xfrm>
          <a:prstGeom prst="rect">
            <a:avLst/>
          </a:prstGeom>
          <a:solidFill>
            <a:srgbClr val="E50914">
              <a:alpha val="40000"/>
            </a:srgbClr>
          </a:solidFill>
          <a:ln w="12700">
            <a:solidFill>
              <a:srgbClr val="E5091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84048" y="13258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84048" y="1993392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4048" y="2578608"/>
            <a:ext cx="5943600" cy="3657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70662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 Titles  |  12 Features  |  1925–2021  |  Strategic Insights &amp; Recommendations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3337560"/>
            <a:ext cx="1600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&amp; TV Shows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03120" y="3337560"/>
            <a:ext cx="1600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22192" y="3337560"/>
            <a:ext cx="1600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41264" y="3337560"/>
            <a:ext cx="1600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60336" y="3337560"/>
            <a:ext cx="160020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Roadmap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44805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Prepared by: Senior Data Scientist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66420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424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Business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08176"/>
            <a:ext cx="3657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Netflix's 8,807-title catalog to uncover strategic patterns in content type, genre, geography, and timing — and translate findings into actionable business decisions.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66420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457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424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Key Questions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408176"/>
            <a:ext cx="3657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content mix look like?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dominate production?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content volume grown over time?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audience gaps?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66420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71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Stakeholders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236976"/>
            <a:ext cx="3657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Acquisition Teams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Programming Directors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Subscriber Growth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Recommendation Teams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66420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402336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871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Scope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236976"/>
            <a:ext cx="3657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 Netflix titles as of late 2021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metadata features per title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spanning 1925 to 2021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/ Netflix public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920240" cy="1143000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192024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914400"/>
            <a:ext cx="1920240" cy="1143000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914400"/>
            <a:ext cx="1920240" cy="54864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6,131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87168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(69.6%)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1920240" cy="1143000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1440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(30.4%)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20240" cy="1143000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14400"/>
            <a:ext cx="19202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212848"/>
          <a:ext cx="8449056" cy="261518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or TV Show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of the content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name(s) — high missingness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cast members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country/countries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date_added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added to Netflix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release year (1925–2021)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rating (TV-MA, PG, etc.)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for movies; seasons for TV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listed_in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 categories (multi-label)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206240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54864" cy="11155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332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10515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4356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date_added (string) → datetime. Extracted year_added, month_added, month_name as new features.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221992"/>
            <a:ext cx="4206240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221992"/>
            <a:ext cx="54864" cy="111556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2951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1832" y="23134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(29.9%), cast (9.4%), country (9.4%) → filled with 'Unknown'. rating (0.05%) → filled. No rows dropped.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483864"/>
            <a:ext cx="4206240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483864"/>
            <a:ext cx="54864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57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1832" y="35753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Splitting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9593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duration into numeric value + unit. Separated movie_minutes and tv_seasons into dedicated columns.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206240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54864" cy="11155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0332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0515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4356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exact row duplicates — 0 duplicate records found. Dataset integrity confirmed.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21992"/>
            <a:ext cx="4206240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21992"/>
            <a:ext cx="54864" cy="11155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951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3134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on movie_minutes: bounds [30, 250 min]. Extreme values flagged but retained (legitimate content).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483864"/>
            <a:ext cx="4206240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83864"/>
            <a:ext cx="54864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57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5753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9593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Added: content_age, days_to_netflix, is_mature, is_us_content, genre_count, is_multi_genre, content_era.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Mix &amp; Audience Targeting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4023360" cy="352044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Split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47472" y="132588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773168" y="914400"/>
            <a:ext cx="4005072" cy="352044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19472" y="1005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Content Ratings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73168" y="1325880"/>
          <a:ext cx="400507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347472" y="4480560"/>
            <a:ext cx="8430768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02920" y="45079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TV-MA + R = ~47% of catalog — Netflix is an adult-first platform. Kids &amp; Family content (&lt;7%) is a clear underinvestment area.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Trajectory (2008–2021)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30768" cy="321868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347472" y="914400"/>
          <a:ext cx="8430768" cy="321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148840" y="1005840"/>
            <a:ext cx="0" cy="292608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874520" y="1051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86400" y="1005840"/>
            <a:ext cx="0" cy="292608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212080" y="1051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903720" y="1005840"/>
            <a:ext cx="0" cy="292608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6629400" y="1051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47472" y="4224528"/>
            <a:ext cx="26060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" y="426110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07008" y="43342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2014→2019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82112" y="4224528"/>
            <a:ext cx="26060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310128" y="426110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041648" y="43342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 — 1,657 titles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16752" y="4224528"/>
            <a:ext cx="26060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44768" y="426110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76288" y="43342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2019→2021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Content 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5029200" cy="395020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Content-Producing Countries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47472" y="1298448"/>
          <a:ext cx="50292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932688"/>
            <a:ext cx="3182112" cy="859536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932688"/>
            <a:ext cx="54864" cy="85953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05856" y="1005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37%  USA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05856" y="12984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but declining share as global strategy scales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901952"/>
            <a:ext cx="3182112" cy="859536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901952"/>
            <a:ext cx="54864" cy="8595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05856" y="19751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13%  India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05856" y="226771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Fast-rising — Bollywood &amp; originals drive growth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871216"/>
            <a:ext cx="3182112" cy="859536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871216"/>
            <a:ext cx="54864" cy="859536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05856" y="29443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 3%  South Korea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05856" y="32369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K-Drama is the highest engagement non-English content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3840480"/>
            <a:ext cx="3182112" cy="859536"/>
          </a:xfrm>
          <a:prstGeom prst="rect">
            <a:avLst/>
          </a:prstGeom>
          <a:solidFill>
            <a:srgbClr val="232323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840480"/>
            <a:ext cx="54864" cy="8595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05856" y="39136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&lt;2%  Africa / MENA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05856" y="42062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underrepresentation — significant content gap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Key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754880" cy="301752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Overview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53312"/>
          <a:ext cx="4754880" cy="246888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year_added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tv_seasons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year_added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tv_seasons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4048" y="3913632"/>
            <a:ext cx="164592" cy="164592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" y="39136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750" dirty="0"/>
          </a:p>
        </p:txBody>
      </p:sp>
      <p:sp>
        <p:nvSpPr>
          <p:cNvPr id="6" name="Shape 6"/>
          <p:cNvSpPr/>
          <p:nvPr/>
        </p:nvSpPr>
        <p:spPr>
          <a:xfrm>
            <a:off x="1316736" y="3913632"/>
            <a:ext cx="164592" cy="164592"/>
          </a:xfrm>
          <a:prstGeom prst="rect">
            <a:avLst/>
          </a:prstGeom>
          <a:solidFill>
            <a:srgbClr val="B81D24"/>
          </a:solidFill>
          <a:ln w="12700">
            <a:solidFill>
              <a:srgbClr val="B81D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17904" y="39136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249424" y="3913632"/>
            <a:ext cx="164592" cy="16459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39136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182112" y="3913632"/>
            <a:ext cx="164592" cy="16459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39136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114800" y="3913632"/>
            <a:ext cx="164592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15968" y="39136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321808" y="960120"/>
            <a:ext cx="3438144" cy="395020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68112" y="10241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 Findings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94960" y="1389888"/>
            <a:ext cx="54864" cy="76809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22976" y="141732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release_year ↔ year_added (r = 0.62)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522976" y="1700784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consistently acquires recently released content — catalog is modern-skewed.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94960" y="2313432"/>
            <a:ext cx="54864" cy="768096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22976" y="234086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release_year ↔ content_age (r = −0.99)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22976" y="2624328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inverse — confirms content_age was correctly engineered from release_year.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94960" y="3236976"/>
            <a:ext cx="54864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22976" y="326440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movie_minutes ↔ other features (weak)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22976" y="3547872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length is independent of release year or year added — pure creative decision.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394960" y="4160520"/>
            <a:ext cx="54864" cy="7680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22976" y="418795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tv_seasons (near-zero correlations)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522976" y="4471416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count has no statistical relationship with any other numeric feature analyzed.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224528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4224528" cy="5029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105156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Dominate But TV Retains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435608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 Movies vs 30.4% TV Shows. However, TV shows drive engagement through multi-episode bingeing — both are essential.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221992"/>
            <a:ext cx="4224528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221992"/>
            <a:ext cx="4224528" cy="502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9514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" y="231343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Content is Core Strategy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2697480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~47% of rated content is TV-MA or R. Netflix has deliberately positioned as a premium adult entertainment platform.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483864"/>
            <a:ext cx="4224528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483864"/>
            <a:ext cx="4224528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57016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357530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Leads, India Challenges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" y="3959352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at 37% is #1 but declining. India at 13% is the fastest-growing market and critical for subscriber growth.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82312" y="960120"/>
            <a:ext cx="4224528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960120"/>
            <a:ext cx="4224528" cy="502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03327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94376" y="105156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Peak Passed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0328" y="1435608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2019 (1,657 titles). Post-2020 decline signals a pivot from volume to curated, original, high-quality content.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82312" y="2221992"/>
            <a:ext cx="4224528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221992"/>
            <a:ext cx="4224528" cy="502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9514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94376" y="2313432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K-Drama Effect is Real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10328" y="2697480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Korea's 199 titles punch far above their weight in engagement — international originals deliver outsized returns.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82312" y="3483864"/>
            <a:ext cx="4224528" cy="111556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3483864"/>
            <a:ext cx="4224528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57016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94376" y="357530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is the Strategic Drop Window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0328" y="3959352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sees the highest content additions. Holiday season = maximum subscriber acquisition and engagement potential.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224528" cy="11521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66160" y="1069848"/>
            <a:ext cx="868680" cy="2560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0698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10515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🧒  Invest in Kids &amp; Family Content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141732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(&lt;7% catalog) drives family plan upgrades and dramatically reduces churn. Target TV-Y, TV-G, PG tiers with 200+ new titles per year.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240280"/>
            <a:ext cx="4224528" cy="11521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350008"/>
            <a:ext cx="868680" cy="2560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35000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2064" y="23317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Double Down on Asian Originals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69748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Korean, Japanese, Indian originals show the best cost-per-engagement ratios. Allocate 30% of originals budget to non-English markets.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520440"/>
            <a:ext cx="4224528" cy="11521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3630168"/>
            <a:ext cx="8686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6301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2064" y="3611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Optimize Q4 Content Calendar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" y="397764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major title drops in Oct–Dec to maximize holiday subscriber acquisition. Use data to identify peak weekend release windows.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82312" y="960120"/>
            <a:ext cx="4224528" cy="11521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069848"/>
            <a:ext cx="8686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0698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46904" y="10515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Accelerate Catalog Freshness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6904" y="141732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365-day lag from release to Netflix addition. Reduce to &lt;90 days through pre-licensing and co-production agreements.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82312" y="2240280"/>
            <a:ext cx="4224528" cy="11521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0" y="2350008"/>
            <a:ext cx="868680" cy="25603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35000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46904" y="23317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Expand Africa &amp; MENA Originals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46904" y="269748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and the Middle East are near-zero in current catalog. These are 1B+ person markets with rising smartphone penetration.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82312" y="3520440"/>
            <a:ext cx="4224528" cy="11521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01000" y="3630168"/>
            <a:ext cx="86868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36301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46904" y="3611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Explore Micro-Content Format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46904" y="397764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15–45 min short films and documentary shorts are underrepresented. Target mobile-first viewers in emerging markets.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37744"/>
            <a:ext cx="64008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868680"/>
            <a:ext cx="8430768" cy="4041648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92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Summary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426464"/>
            <a:ext cx="164592" cy="16459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8988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catalog is Movie-heavy (70%) with adult-skewed ratings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" y="1947672"/>
            <a:ext cx="164592" cy="16459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1109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dominates but India, Korea, Spain are the growth engines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468880"/>
            <a:ext cx="164592" cy="16459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323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peaked in 2019; quality-over-quantity shift is underway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990088"/>
            <a:ext cx="164592" cy="16459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95351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&amp; Family is systematically underinvested — high risk of churn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511296"/>
            <a:ext cx="164592" cy="16459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7472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originals deliver outsized engagement per $ invested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4032504"/>
            <a:ext cx="164592" cy="16459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959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is the prime window for strategic content launches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10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STRATEGY  |  EDA REPORT  |  CONFIDENTIAL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910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1263</Words>
  <Application>Microsoft Office PowerPoint</Application>
  <PresentationFormat>On-screen Show (16:9)</PresentationFormat>
  <Paragraphs>250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Strategy — EDA Report</dc:title>
  <dc:subject>Exploratory Data Analysis</dc:subject>
  <dc:creator>Senior Data Scientist</dc:creator>
  <cp:lastModifiedBy>mohmedmarof2551997@gmail.com</cp:lastModifiedBy>
  <cp:revision>2</cp:revision>
  <dcterms:created xsi:type="dcterms:W3CDTF">2026-05-01T18:33:12Z</dcterms:created>
  <dcterms:modified xsi:type="dcterms:W3CDTF">2026-05-02T16:00:29Z</dcterms:modified>
</cp:coreProperties>
</file>